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928" autoAdjust="0"/>
  </p:normalViewPr>
  <p:slideViewPr>
    <p:cSldViewPr snapToGrid="0" snapToObjects="1">
      <p:cViewPr varScale="1">
        <p:scale>
          <a:sx n="82" d="100"/>
          <a:sy n="82" d="100"/>
        </p:scale>
        <p:origin x="69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499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Welcome to the course "Automation and Scripting". This first lesson is an introduction to automation: what it is, where it is applied, why it matters, and the languages and tools we will use throughout the course.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Automation is the use of technology to perform tasks with minimal human intervention, in order to replace or augment human </a:t>
            </a:r>
            <a:r>
              <a:rPr lang="en-GB" b="0" dirty="0" err="1">
                <a:solidFill>
                  <a:srgbClr val="202020"/>
                </a:solidFill>
                <a:effectLst/>
                <a:latin typeface="Consolas" panose="020B0609020204030204" pitchFamily="49" charset="0"/>
              </a:rPr>
              <a:t>labor</a:t>
            </a:r>
            <a:r>
              <a:rPr lang="en-GB" b="0" dirty="0">
                <a:solidFill>
                  <a:srgbClr val="202020"/>
                </a:solidFill>
                <a:effectLst/>
                <a:latin typeface="Consolas" panose="020B0609020204030204" pitchFamily="49" charset="0"/>
              </a:rPr>
              <a:t>. In practice, this means writing scripts or programs that execute repetitive operations, streamline complex workflows, and improve overall efficiency. It is not limited to one domain — it is a foundational approach applicable wherever routine or precision is required.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32058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The need for automation typically arises when a sequence of actions must be performed regularly, with accuracy, or at scale. You will find it in everyday and industrial contexts alike: making a cup of espresso, preparing a pizza, manufacturing plastic bottles, launching a space rocket, collecting data for analysis, and building, testing, and deploying software.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In most cases, automation is implemented by writing automation scripts in interpreted languages. These are small programs designed to perform specific tasks such as managing system resources, processing files, or interacting with web services. Throughout this course, "automation script" and "script" are used interchangeably. Beyond scripts, specialized tools and frameworks provide higher-level abstractions for more complex, large-scale automation.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Automation in IT spans a variety of domains, each with its own requirements and benefits. Key areas include DevOps for deploying and maintaining infrastructure, testing for automating tests and ensuring software quality, business processes for automating document flow and project management, data analysis for automating data collection and processing, and system administration for automating routine tasks and user management.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The primary motivation for automation is to ensure that processes are executed consistently, accurately, and efficiently, especially for repetitive or large-scale tasks. By delegating such operations to automated systems, organizations and individuals achieve increased efficiency and productivity, reduced human error, lower operational costs, and improved consistency and quality. Consequently, automation becomes a critical component in developing and maintaining modern systems and workflows.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Scripting languages are essential tools for implementing automation. They are designed for integration, flexibility, and ease of use. Commonly used languages include CMD for Windows command-line scripting, Bash as the Unix shell, PowerShell as a Windows automation framework that can use .NET libraries and cmdlets, Python for its readability, and JavaScript which is widely used in web development and increasingly in automation and cloud environments. While these are popular choices, any interpreted language can be used depending on the task.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In addition to scripting languages, a variety of automation tools simplify and extend automation capabilities. Notable examples include Ansible, an IT automation tool that uses YAML to describe tasks; Jenkins, a continuous integration and delivery tool for automating the building, testing, and deployment of software; GitHub Actions, a workflow automation platform built into GitHub; and Terraform, an infrastructure-as-code tool for defining and provisioning infrastructure using configuration files.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This course provides a comprehensive introduction to automation, focusing on practical skills and real-world applications. You will learn to use Bash and PowerShell for writing automation scripts, GitHub Actions for automating workflows in repositories, and Jenkins for automating software build and deployment processes. By the end of the course, you will be equipped to design, implement, and manage automation solutions in a variety of IT contexts. The primary operating system for practical assignments will be Linux, specifically Ubuntu or Debian.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202020"/>
                </a:solidFill>
                <a:effectLst/>
                <a:latin typeface="Consolas" panose="020B0609020204030204" pitchFamily="49" charset="0"/>
              </a:rPr>
              <a:t>That concludes our introduction to automation. Thank you for your attention — I would be happy to take any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microsoft.com/office/2007/relationships/hdphoto" Target="../media/hdphoto3.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F"/>
        </a:solidFill>
        <a:effectLst/>
      </p:bgPr>
    </p:bg>
    <p:spTree>
      <p:nvGrpSpPr>
        <p:cNvPr id="1" name=""/>
        <p:cNvGrpSpPr/>
        <p:nvPr/>
      </p:nvGrpSpPr>
      <p:grpSpPr>
        <a:xfrm>
          <a:off x="0" y="0"/>
          <a:ext cx="0" cy="0"/>
          <a:chOff x="0" y="0"/>
          <a:chExt cx="0" cy="0"/>
        </a:xfrm>
      </p:grpSpPr>
      <p:pic>
        <p:nvPicPr>
          <p:cNvPr id="2" name="Image 0" descr="/home/claude/deck/doodles/gear_white.png"/>
          <p:cNvPicPr>
            <a:picLocks noChangeAspect="1"/>
          </p:cNvPicPr>
          <p:nvPr/>
        </p:nvPicPr>
        <p:blipFill>
          <a:blip r:embed="rId3"/>
          <a:stretch>
            <a:fillRect/>
          </a:stretch>
        </p:blipFill>
        <p:spPr>
          <a:xfrm>
            <a:off x="5166360" y="822960"/>
            <a:ext cx="1828800" cy="1828800"/>
          </a:xfrm>
          <a:prstGeom prst="rect">
            <a:avLst/>
          </a:prstGeom>
        </p:spPr>
      </p:pic>
      <p:sp>
        <p:nvSpPr>
          <p:cNvPr id="3" name="Text 0"/>
          <p:cNvSpPr/>
          <p:nvPr/>
        </p:nvSpPr>
        <p:spPr>
          <a:xfrm>
            <a:off x="914400" y="2880360"/>
            <a:ext cx="10332720"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Introduction to Automation</a:t>
            </a:r>
            <a:endParaRPr lang="en-US" sz="4000" dirty="0"/>
          </a:p>
        </p:txBody>
      </p:sp>
      <p:sp>
        <p:nvSpPr>
          <p:cNvPr id="4" name="Text 1"/>
          <p:cNvSpPr/>
          <p:nvPr/>
        </p:nvSpPr>
        <p:spPr>
          <a:xfrm>
            <a:off x="914400" y="3886200"/>
            <a:ext cx="1033272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Automation and Scripting, Mihail Croitor, MSU,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What is Automation?</a:t>
            </a:r>
            <a:endParaRPr lang="en-US" sz="3200" dirty="0"/>
          </a:p>
        </p:txBody>
      </p:sp>
      <p:pic>
        <p:nvPicPr>
          <p:cNvPr id="3" name="Image 0" descr="/home/claude/deck/doodles/switchLever.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Definition: technology performing tasks with minimal human intervention.</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In practice: scripts and programs that run repetitive operations.</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Goal: streamline workflows and improve efficiency.</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Scope: any domain where routine or precision is required.</a:t>
            </a:r>
            <a:endParaRPr lang="en-US" sz="1700" dirty="0"/>
          </a:p>
        </p:txBody>
      </p:sp>
      <p:pic>
        <p:nvPicPr>
          <p:cNvPr id="12" name="Picture 11">
            <a:extLst>
              <a:ext uri="{FF2B5EF4-FFF2-40B4-BE49-F238E27FC236}">
                <a16:creationId xmlns:a16="http://schemas.microsoft.com/office/drawing/2014/main" id="{2E177674-EA1B-4C26-9E0B-37355BEFC9F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44" b="89869" l="4500" r="94000">
                        <a14:foregroundMark x1="14750" y1="11445" x2="8625" y2="19887"/>
                        <a14:foregroundMark x1="8625" y1="19887" x2="1750" y2="52158"/>
                        <a14:foregroundMark x1="1750" y1="52158" x2="4125" y2="71482"/>
                        <a14:foregroundMark x1="4125" y1="71482" x2="2125" y2="84428"/>
                        <a14:foregroundMark x1="2125" y1="84428" x2="10000" y2="90994"/>
                        <a14:foregroundMark x1="10000" y1="90994" x2="21250" y2="94184"/>
                        <a14:foregroundMark x1="21250" y1="94184" x2="54750" y2="91745"/>
                        <a14:foregroundMark x1="54750" y1="91745" x2="81500" y2="92308"/>
                        <a14:foregroundMark x1="81500" y1="92308" x2="93625" y2="89306"/>
                        <a14:foregroundMark x1="93625" y1="89306" x2="97250" y2="76548"/>
                        <a14:foregroundMark x1="97250" y1="76548" x2="94000" y2="19512"/>
                        <a14:foregroundMark x1="94000" y1="19512" x2="84375" y2="11069"/>
                        <a14:foregroundMark x1="84375" y1="11069" x2="12250" y2="12758"/>
                        <a14:foregroundMark x1="5750" y1="36398" x2="1000" y2="48593"/>
                        <a14:foregroundMark x1="1000" y1="48593" x2="2250" y2="76548"/>
                        <a14:foregroundMark x1="2250" y1="76548" x2="12000" y2="82927"/>
                        <a14:foregroundMark x1="12000" y1="82927" x2="22500" y2="82176"/>
                        <a14:foregroundMark x1="22500" y1="82176" x2="29875" y2="78424"/>
                        <a14:foregroundMark x1="29875" y1="78424" x2="32125" y2="62289"/>
                        <a14:foregroundMark x1="32125" y1="62289" x2="30375" y2="44465"/>
                        <a14:foregroundMark x1="30375" y1="44465" x2="21375" y2="28705"/>
                        <a14:foregroundMark x1="21375" y1="28705" x2="13875" y2="29831"/>
                        <a14:foregroundMark x1="13875" y1="29831" x2="4500" y2="37711"/>
                      </a14:backgroundRemoval>
                    </a14:imgEffect>
                  </a14:imgLayer>
                </a14:imgProps>
              </a:ext>
            </a:extLst>
          </a:blip>
          <a:stretch>
            <a:fillRect/>
          </a:stretch>
        </p:blipFill>
        <p:spPr>
          <a:xfrm>
            <a:off x="5440680" y="2400553"/>
            <a:ext cx="6453673" cy="4299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8679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A story</a:t>
            </a:r>
            <a:endParaRPr lang="en-US" sz="3200" dirty="0"/>
          </a:p>
        </p:txBody>
      </p:sp>
      <p:pic>
        <p:nvPicPr>
          <p:cNvPr id="3" name="Image 0" descr="/home/claude/deck/doodles/switchLever.png"/>
          <p:cNvPicPr>
            <a:picLocks noChangeAspect="1"/>
          </p:cNvPicPr>
          <p:nvPr/>
        </p:nvPicPr>
        <p:blipFill>
          <a:blip r:embed="rId3"/>
          <a:stretch>
            <a:fillRect/>
          </a:stretch>
        </p:blipFill>
        <p:spPr>
          <a:xfrm>
            <a:off x="10332720" y="83127"/>
            <a:ext cx="1371600" cy="1371600"/>
          </a:xfrm>
          <a:prstGeom prst="rect">
            <a:avLst/>
          </a:prstGeom>
        </p:spPr>
      </p:pic>
      <p:sp>
        <p:nvSpPr>
          <p:cNvPr id="4" name="Text 1"/>
          <p:cNvSpPr/>
          <p:nvPr/>
        </p:nvSpPr>
        <p:spPr>
          <a:xfrm>
            <a:off x="487680" y="1109750"/>
            <a:ext cx="11216640" cy="5291050"/>
          </a:xfrm>
          <a:prstGeom prst="rect">
            <a:avLst/>
          </a:prstGeom>
          <a:noFill/>
          <a:ln/>
        </p:spPr>
        <p:txBody>
          <a:bodyPr wrap="square" lIns="0" tIns="0" rIns="0" bIns="0" rtlCol="0" anchor="t"/>
          <a:lstStyle/>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We had YYY (a build engineer) lured here. The guy lived strictly in the console and vim, drew diagrams with scripts in dot, wrote docs in wiki markdown, if something required more than 1.5 minutes he wrote a script. We're sitting here sorting out his legacy. </a:t>
            </a:r>
          </a:p>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Some of the highlights</a:t>
            </a:r>
          </a:p>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a:t>
            </a:r>
            <a:r>
              <a:rPr lang="en-GB" sz="1700" i="1" dirty="0">
                <a:solidFill>
                  <a:srgbClr val="333333"/>
                </a:solidFill>
                <a:latin typeface="Calibri" pitchFamily="34" charset="0"/>
                <a:ea typeface="Calibri" pitchFamily="34" charset="-122"/>
                <a:cs typeface="Calibri" pitchFamily="34" charset="-120"/>
              </a:rPr>
              <a:t>`smack-my-bitch-up.sh`</a:t>
            </a:r>
            <a:r>
              <a:rPr lang="en-GB" sz="1700" dirty="0">
                <a:solidFill>
                  <a:srgbClr val="333333"/>
                </a:solidFill>
                <a:latin typeface="Calibri" pitchFamily="34" charset="0"/>
                <a:ea typeface="Calibri" pitchFamily="34" charset="-122"/>
                <a:cs typeface="Calibri" pitchFamily="34" charset="-120"/>
              </a:rPr>
              <a:t> - sends a text message "late at work" to his wife (apparently). Automatically picks reasons from an array of strings, randomly. Runs inside a </a:t>
            </a:r>
            <a:r>
              <a:rPr lang="en-GB" sz="1700" dirty="0" err="1">
                <a:solidFill>
                  <a:srgbClr val="333333"/>
                </a:solidFill>
                <a:latin typeface="Calibri" pitchFamily="34" charset="0"/>
                <a:ea typeface="Calibri" pitchFamily="34" charset="-122"/>
                <a:cs typeface="Calibri" pitchFamily="34" charset="-120"/>
              </a:rPr>
              <a:t>cron</a:t>
            </a:r>
            <a:r>
              <a:rPr lang="en-GB" sz="1700" dirty="0">
                <a:solidFill>
                  <a:srgbClr val="333333"/>
                </a:solidFill>
                <a:latin typeface="Calibri" pitchFamily="34" charset="0"/>
                <a:ea typeface="Calibri" pitchFamily="34" charset="-122"/>
                <a:cs typeface="Calibri" pitchFamily="34" charset="-120"/>
              </a:rPr>
              <a:t>-job. The job fires if there are active SSH-sessions on the server after 9pm with his login.</a:t>
            </a:r>
          </a:p>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a:t>
            </a:r>
            <a:r>
              <a:rPr lang="en-GB" sz="1700" i="1" dirty="0">
                <a:solidFill>
                  <a:srgbClr val="333333"/>
                </a:solidFill>
                <a:latin typeface="Calibri" pitchFamily="34" charset="0"/>
                <a:ea typeface="Calibri" pitchFamily="34" charset="-122"/>
                <a:cs typeface="Calibri" pitchFamily="34" charset="-120"/>
              </a:rPr>
              <a:t>`kumar-asshole.sh`</a:t>
            </a:r>
            <a:r>
              <a:rPr lang="en-GB" sz="1700" dirty="0">
                <a:solidFill>
                  <a:srgbClr val="333333"/>
                </a:solidFill>
                <a:latin typeface="Calibri" pitchFamily="34" charset="0"/>
                <a:ea typeface="Calibri" pitchFamily="34" charset="-122"/>
                <a:cs typeface="Calibri" pitchFamily="34" charset="-120"/>
              </a:rPr>
              <a:t> - scans the inbox for emails from "Kumar" (a DBA at our clients). Looks for keywords like "help", "trouble", "sorry" etc. If keywords are found - the script </a:t>
            </a:r>
            <a:r>
              <a:rPr lang="en-GB" sz="1700" dirty="0" err="1">
                <a:solidFill>
                  <a:srgbClr val="333333"/>
                </a:solidFill>
                <a:latin typeface="Calibri" pitchFamily="34" charset="0"/>
                <a:ea typeface="Calibri" pitchFamily="34" charset="-122"/>
                <a:cs typeface="Calibri" pitchFamily="34" charset="-120"/>
              </a:rPr>
              <a:t>SSHes</a:t>
            </a:r>
            <a:r>
              <a:rPr lang="en-GB" sz="1700" dirty="0">
                <a:solidFill>
                  <a:srgbClr val="333333"/>
                </a:solidFill>
                <a:latin typeface="Calibri" pitchFamily="34" charset="0"/>
                <a:ea typeface="Calibri" pitchFamily="34" charset="-122"/>
                <a:cs typeface="Calibri" pitchFamily="34" charset="-120"/>
              </a:rPr>
              <a:t> into the clients server and rolls back the staging database to the latest backup. Then sends a reply "no worries mate, be careful next time".</a:t>
            </a:r>
          </a:p>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a:t>
            </a:r>
            <a:r>
              <a:rPr lang="en-GB" sz="1700" i="1" dirty="0">
                <a:solidFill>
                  <a:srgbClr val="333333"/>
                </a:solidFill>
                <a:latin typeface="Calibri" pitchFamily="34" charset="0"/>
                <a:ea typeface="Calibri" pitchFamily="34" charset="-122"/>
                <a:cs typeface="Calibri" pitchFamily="34" charset="-120"/>
              </a:rPr>
              <a:t>`hangover.sh`</a:t>
            </a:r>
            <a:r>
              <a:rPr lang="en-GB" sz="1700" dirty="0">
                <a:solidFill>
                  <a:srgbClr val="333333"/>
                </a:solidFill>
                <a:latin typeface="Calibri" pitchFamily="34" charset="0"/>
                <a:ea typeface="Calibri" pitchFamily="34" charset="-122"/>
                <a:cs typeface="Calibri" pitchFamily="34" charset="-120"/>
              </a:rPr>
              <a:t> - another </a:t>
            </a:r>
            <a:r>
              <a:rPr lang="en-GB" sz="1700" dirty="0" err="1">
                <a:solidFill>
                  <a:srgbClr val="333333"/>
                </a:solidFill>
                <a:latin typeface="Calibri" pitchFamily="34" charset="0"/>
                <a:ea typeface="Calibri" pitchFamily="34" charset="-122"/>
                <a:cs typeface="Calibri" pitchFamily="34" charset="-120"/>
              </a:rPr>
              <a:t>cron</a:t>
            </a:r>
            <a:r>
              <a:rPr lang="en-GB" sz="1700" dirty="0">
                <a:solidFill>
                  <a:srgbClr val="333333"/>
                </a:solidFill>
                <a:latin typeface="Calibri" pitchFamily="34" charset="0"/>
                <a:ea typeface="Calibri" pitchFamily="34" charset="-122"/>
                <a:cs typeface="Calibri" pitchFamily="34" charset="-120"/>
              </a:rPr>
              <a:t>-job that is set to specific dates. Sends automated emails like "not feeling well/</a:t>
            </a:r>
            <a:r>
              <a:rPr lang="en-GB" sz="1700" dirty="0" err="1">
                <a:solidFill>
                  <a:srgbClr val="333333"/>
                </a:solidFill>
                <a:latin typeface="Calibri" pitchFamily="34" charset="0"/>
                <a:ea typeface="Calibri" pitchFamily="34" charset="-122"/>
                <a:cs typeface="Calibri" pitchFamily="34" charset="-120"/>
              </a:rPr>
              <a:t>gonna</a:t>
            </a:r>
            <a:r>
              <a:rPr lang="en-GB" sz="1700" dirty="0">
                <a:solidFill>
                  <a:srgbClr val="333333"/>
                </a:solidFill>
                <a:latin typeface="Calibri" pitchFamily="34" charset="0"/>
                <a:ea typeface="Calibri" pitchFamily="34" charset="-122"/>
                <a:cs typeface="Calibri" pitchFamily="34" charset="-120"/>
              </a:rPr>
              <a:t> work from home" etc. Adds a random "reason" from another predefined array of strings. Fires if there are no interactive sessions on the server at 8:45am.</a:t>
            </a:r>
          </a:p>
          <a:p>
            <a:pPr marL="285750" indent="-285750" algn="l">
              <a:spcAft>
                <a:spcPts val="1000"/>
              </a:spcAft>
              <a:buFont typeface="Wingdings" panose="05000000000000000000" pitchFamily="2" charset="2"/>
              <a:buChar char="Ø"/>
            </a:pPr>
            <a:r>
              <a:rPr lang="en-GB" sz="1700" b="1" dirty="0">
                <a:solidFill>
                  <a:srgbClr val="333333"/>
                </a:solidFill>
                <a:latin typeface="Calibri" pitchFamily="34" charset="0"/>
                <a:ea typeface="Calibri" pitchFamily="34" charset="-122"/>
                <a:cs typeface="Calibri" pitchFamily="34" charset="-120"/>
              </a:rPr>
              <a:t>xxx:</a:t>
            </a:r>
            <a:r>
              <a:rPr lang="en-GB" sz="1700" dirty="0">
                <a:solidFill>
                  <a:srgbClr val="333333"/>
                </a:solidFill>
                <a:latin typeface="Calibri" pitchFamily="34" charset="0"/>
                <a:ea typeface="Calibri" pitchFamily="34" charset="-122"/>
                <a:cs typeface="Calibri" pitchFamily="34" charset="-120"/>
              </a:rPr>
              <a:t> (the first prize) </a:t>
            </a:r>
            <a:r>
              <a:rPr lang="en-GB" sz="1700" i="1" dirty="0">
                <a:solidFill>
                  <a:srgbClr val="333333"/>
                </a:solidFill>
                <a:latin typeface="Calibri" pitchFamily="34" charset="0"/>
                <a:ea typeface="Calibri" pitchFamily="34" charset="-122"/>
                <a:cs typeface="Calibri" pitchFamily="34" charset="-120"/>
              </a:rPr>
              <a:t>`fuckingcoffee.sh`</a:t>
            </a:r>
            <a:r>
              <a:rPr lang="en-GB" sz="1700" dirty="0">
                <a:solidFill>
                  <a:srgbClr val="333333"/>
                </a:solidFill>
                <a:latin typeface="Calibri" pitchFamily="34" charset="0"/>
                <a:ea typeface="Calibri" pitchFamily="34" charset="-122"/>
                <a:cs typeface="Calibri" pitchFamily="34" charset="-120"/>
              </a:rPr>
              <a:t> - this one waits exactly 17 seconds (!), then opens an SSH session to our coffee-machine (we had no </a:t>
            </a:r>
            <a:r>
              <a:rPr lang="en-GB" sz="1700" dirty="0" err="1">
                <a:solidFill>
                  <a:srgbClr val="333333"/>
                </a:solidFill>
                <a:latin typeface="Calibri" pitchFamily="34" charset="0"/>
                <a:ea typeface="Calibri" pitchFamily="34" charset="-122"/>
                <a:cs typeface="Calibri" pitchFamily="34" charset="-120"/>
              </a:rPr>
              <a:t>frikin</a:t>
            </a:r>
            <a:r>
              <a:rPr lang="en-GB" sz="1700" dirty="0">
                <a:solidFill>
                  <a:srgbClr val="333333"/>
                </a:solidFill>
                <a:latin typeface="Calibri" pitchFamily="34" charset="0"/>
                <a:ea typeface="Calibri" pitchFamily="34" charset="-122"/>
                <a:cs typeface="Calibri" pitchFamily="34" charset="-120"/>
              </a:rPr>
              <a:t> idea the coffee machine is on the network, runs </a:t>
            </a:r>
            <a:r>
              <a:rPr lang="en-GB" sz="1700" dirty="0" err="1">
                <a:solidFill>
                  <a:srgbClr val="333333"/>
                </a:solidFill>
                <a:latin typeface="Calibri" pitchFamily="34" charset="0"/>
                <a:ea typeface="Calibri" pitchFamily="34" charset="-122"/>
                <a:cs typeface="Calibri" pitchFamily="34" charset="-120"/>
              </a:rPr>
              <a:t>linux</a:t>
            </a:r>
            <a:r>
              <a:rPr lang="en-GB" sz="1700" dirty="0">
                <a:solidFill>
                  <a:srgbClr val="333333"/>
                </a:solidFill>
                <a:latin typeface="Calibri" pitchFamily="34" charset="0"/>
                <a:ea typeface="Calibri" pitchFamily="34" charset="-122"/>
                <a:cs typeface="Calibri" pitchFamily="34" charset="-120"/>
              </a:rPr>
              <a:t> and has SSHD up and running) and sends some weird gibberish to it. Looks binary. Turns out this thing starts brewing a mid-sized half-caf latte and waits another 24 (!) seconds before pouring it into a cup. The timing is exactly how long it takes to walk to the machine from the dudes desk.*</a:t>
            </a:r>
            <a:endParaRPr lang="en-US" sz="1700" dirty="0"/>
          </a:p>
        </p:txBody>
      </p:sp>
    </p:spTree>
    <p:extLst>
      <p:ext uri="{BB962C8B-B14F-4D97-AF65-F5344CB8AC3E}">
        <p14:creationId xmlns:p14="http://schemas.microsoft.com/office/powerpoint/2010/main" val="156710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Where Automation Arises</a:t>
            </a:r>
            <a:endParaRPr lang="en-US" sz="3200" dirty="0"/>
          </a:p>
        </p:txBody>
      </p:sp>
      <p:pic>
        <p:nvPicPr>
          <p:cNvPr id="3" name="Image 0" descr="/home/claude/deck/doodles/coffee.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The need appears when actions must be:</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performed regularly</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performed with accuracy</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performed at scale</a:t>
            </a:r>
            <a:endParaRPr lang="en-US" sz="1700" dirty="0"/>
          </a:p>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Examples: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making espresso, preparing a pizza</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manufacturing bottles, launching a rocket</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collecting data, building and deploying software</a:t>
            </a:r>
            <a:endParaRPr lang="en-US" sz="1700" dirty="0"/>
          </a:p>
        </p:txBody>
      </p:sp>
      <p:pic>
        <p:nvPicPr>
          <p:cNvPr id="10" name="Picture 9">
            <a:extLst>
              <a:ext uri="{FF2B5EF4-FFF2-40B4-BE49-F238E27FC236}">
                <a16:creationId xmlns:a16="http://schemas.microsoft.com/office/drawing/2014/main" id="{8D8A16AE-DBAE-4CF9-B000-C9F83B15A02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258318" y="2193984"/>
            <a:ext cx="6933682" cy="46195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Automation in Practice</a:t>
            </a:r>
            <a:endParaRPr lang="en-US" sz="3200" dirty="0"/>
          </a:p>
        </p:txBody>
      </p:sp>
      <p:pic>
        <p:nvPicPr>
          <p:cNvPr id="3" name="Image 0" descr="/home/claude/deck/doodles/terminal.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Most automation is implemented with:</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automation scripts (small programs for specific tasks)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written in interpreted languages</a:t>
            </a:r>
            <a:endParaRPr lang="en-US" sz="1700" dirty="0"/>
          </a:p>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Scripts can:</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manage system resources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process files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interact with web services</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Specialized tools add higher-level abstractions.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Areas of Automation Application</a:t>
            </a:r>
            <a:endParaRPr lang="en-US" sz="3200" dirty="0"/>
          </a:p>
        </p:txBody>
      </p:sp>
      <p:pic>
        <p:nvPicPr>
          <p:cNvPr id="3" name="Image 0" descr="/home/claude/deck/doodles/network.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5212080" cy="420624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DevOps: deploy and maintain infrastructure</a:t>
            </a:r>
            <a:endParaRPr lang="en-US" sz="1600" dirty="0"/>
          </a:p>
          <a:p>
            <a:pPr marL="342900" indent="-3429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Testing: automate tests and ensure quality</a:t>
            </a:r>
            <a:endParaRPr lang="en-US" sz="1600" dirty="0"/>
          </a:p>
          <a:p>
            <a:pPr marL="342900" indent="-3429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Business processes: document flow, project management</a:t>
            </a:r>
            <a:endParaRPr lang="en-US" sz="1600" dirty="0"/>
          </a:p>
        </p:txBody>
      </p:sp>
      <p:sp>
        <p:nvSpPr>
          <p:cNvPr id="5" name="Text 2"/>
          <p:cNvSpPr/>
          <p:nvPr/>
        </p:nvSpPr>
        <p:spPr>
          <a:xfrm>
            <a:off x="6126480" y="1737360"/>
            <a:ext cx="5212080" cy="420624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Data analysis: automate collection and processing</a:t>
            </a:r>
            <a:endParaRPr lang="en-US" sz="1600" dirty="0"/>
          </a:p>
          <a:p>
            <a:pPr marL="342900" indent="-3429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System administration: routine tasks, user management</a:t>
            </a:r>
            <a:endParaRPr lang="en-US" sz="1600" dirty="0"/>
          </a:p>
        </p:txBody>
      </p:sp>
      <p:pic>
        <p:nvPicPr>
          <p:cNvPr id="7" name="Picture 6">
            <a:extLst>
              <a:ext uri="{FF2B5EF4-FFF2-40B4-BE49-F238E27FC236}">
                <a16:creationId xmlns:a16="http://schemas.microsoft.com/office/drawing/2014/main" id="{A1CECCFF-1156-4E58-B0D1-5CE09E55662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577115" y="2887018"/>
            <a:ext cx="6550090" cy="36598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Advantages of Automation</a:t>
            </a:r>
            <a:endParaRPr lang="en-US" sz="3200" dirty="0"/>
          </a:p>
        </p:txBody>
      </p:sp>
      <p:pic>
        <p:nvPicPr>
          <p:cNvPr id="3" name="Image 0" descr="/home/claude/deck/doodles/growth.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Motivation: consistent, accurate, efficient execution.</a:t>
            </a:r>
            <a:endParaRPr lang="en-US" sz="1700" dirty="0"/>
          </a:p>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Benefits: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increased efficiency and productivity</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reduced human error</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lower operational costs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improved consistency and quality</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Result: a critical component of modern systems and workflows.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Overview of Scripting Languages</a:t>
            </a:r>
            <a:endParaRPr lang="en-US" sz="3200" dirty="0"/>
          </a:p>
        </p:txBody>
      </p:sp>
      <p:pic>
        <p:nvPicPr>
          <p:cNvPr id="3" name="Image 0" descr="/home/claude/deck/doodles/code.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Designed for integration, flexibility, and ease of use.</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CMD: command-line scripting for Windows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Bash: Unix shell and command language</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PowerShell: Windows automation, .NET libraries, cmdlets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Python: high-level, known for readability</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JavaScript: web development and cloud automation</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Any interpreted language can be used for automation.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Automation Tools</a:t>
            </a:r>
            <a:endParaRPr lang="en-US" sz="3200" dirty="0"/>
          </a:p>
        </p:txBody>
      </p:sp>
      <p:pic>
        <p:nvPicPr>
          <p:cNvPr id="3" name="Image 0" descr="/home/claude/deck/doodles/tools.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Provide interfaces, advanced features, and integration.</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Ansible: IT automation using YAML</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Jenkins: CI/CD for build, test, deploy</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GitHub Actions: workflow automation in repositories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Terraform: infrastructure as code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601200" cy="822960"/>
          </a:xfrm>
          <a:prstGeom prst="rect">
            <a:avLst/>
          </a:prstGeom>
          <a:noFill/>
          <a:ln/>
        </p:spPr>
        <p:txBody>
          <a:bodyPr wrap="square" lIns="0" tIns="0" rIns="0" bIns="0" rtlCol="0" anchor="ctr"/>
          <a:lstStyle/>
          <a:p>
            <a:pPr marL="0" indent="0" algn="l">
              <a:buNone/>
            </a:pPr>
            <a:r>
              <a:rPr lang="en-US" sz="3200" b="1" dirty="0">
                <a:solidFill>
                  <a:srgbClr val="1B4F9C"/>
                </a:solidFill>
                <a:latin typeface="Cambria" pitchFamily="34" charset="0"/>
                <a:ea typeface="Cambria" pitchFamily="34" charset="-122"/>
                <a:cs typeface="Cambria" pitchFamily="34" charset="-120"/>
              </a:rPr>
              <a:t>What You Will Learn</a:t>
            </a:r>
            <a:endParaRPr lang="en-US" sz="3200" dirty="0"/>
          </a:p>
        </p:txBody>
      </p:sp>
      <p:pic>
        <p:nvPicPr>
          <p:cNvPr id="3" name="Image 0" descr="/home/claude/deck/doodles/book.png"/>
          <p:cNvPicPr>
            <a:picLocks noChangeAspect="1"/>
          </p:cNvPicPr>
          <p:nvPr/>
        </p:nvPicPr>
        <p:blipFill>
          <a:blip r:embed="rId3"/>
          <a:stretch>
            <a:fillRect/>
          </a:stretch>
        </p:blipFill>
        <p:spPr>
          <a:xfrm>
            <a:off x="10332720" y="457200"/>
            <a:ext cx="1371600" cy="1371600"/>
          </a:xfrm>
          <a:prstGeom prst="rect">
            <a:avLst/>
          </a:prstGeom>
        </p:spPr>
      </p:pic>
      <p:sp>
        <p:nvSpPr>
          <p:cNvPr id="4" name="Text 1"/>
          <p:cNvSpPr/>
          <p:nvPr/>
        </p:nvSpPr>
        <p:spPr>
          <a:xfrm>
            <a:off x="640080" y="1737360"/>
            <a:ext cx="10058400" cy="4389120"/>
          </a:xfrm>
          <a:prstGeom prst="rect">
            <a:avLst/>
          </a:prstGeom>
          <a:noFill/>
          <a:ln/>
        </p:spPr>
        <p:txBody>
          <a:bodyPr wrap="square" lIns="0" tIns="0" rIns="0" bIns="0" rtlCol="0" anchor="t"/>
          <a:lstStyle/>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A practical, real-world introduction to automation.</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Bash and PowerShell for automation scripts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GitHub Actions for repository workflows</a:t>
            </a:r>
            <a:endParaRPr lang="en-US" sz="1700" dirty="0"/>
          </a:p>
          <a:p>
            <a:pPr marL="342900" indent="-3429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Jenkins for build and deployment automation</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Primary OS for practical work: Linux (Ubuntu / Debian).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2213F"/>
        </a:solidFill>
        <a:effectLst/>
      </p:bgPr>
    </p:bg>
    <p:spTree>
      <p:nvGrpSpPr>
        <p:cNvPr id="1" name=""/>
        <p:cNvGrpSpPr/>
        <p:nvPr/>
      </p:nvGrpSpPr>
      <p:grpSpPr>
        <a:xfrm>
          <a:off x="0" y="0"/>
          <a:ext cx="0" cy="0"/>
          <a:chOff x="0" y="0"/>
          <a:chExt cx="0" cy="0"/>
        </a:xfrm>
      </p:grpSpPr>
      <p:pic>
        <p:nvPicPr>
          <p:cNvPr id="2" name="Image 0" descr="/home/claude/deck/doodles/wave_white.png"/>
          <p:cNvPicPr>
            <a:picLocks noChangeAspect="1"/>
          </p:cNvPicPr>
          <p:nvPr/>
        </p:nvPicPr>
        <p:blipFill>
          <a:blip r:embed="rId3"/>
          <a:stretch>
            <a:fillRect/>
          </a:stretch>
        </p:blipFill>
        <p:spPr>
          <a:xfrm>
            <a:off x="5257800" y="1188720"/>
            <a:ext cx="1645920" cy="1645920"/>
          </a:xfrm>
          <a:prstGeom prst="rect">
            <a:avLst/>
          </a:prstGeom>
        </p:spPr>
      </p:pic>
      <p:sp>
        <p:nvSpPr>
          <p:cNvPr id="3" name="Text 0"/>
          <p:cNvSpPr/>
          <p:nvPr/>
        </p:nvSpPr>
        <p:spPr>
          <a:xfrm>
            <a:off x="914400" y="3200400"/>
            <a:ext cx="1033272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1"/>
          <p:cNvSpPr/>
          <p:nvPr/>
        </p:nvSpPr>
        <p:spPr>
          <a:xfrm>
            <a:off x="914400" y="4160520"/>
            <a:ext cx="1033272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TotalTime>
  <Words>1403</Words>
  <Application>Microsoft Office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Cambria</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Mihail Croitor</cp:lastModifiedBy>
  <cp:revision>13</cp:revision>
  <dcterms:created xsi:type="dcterms:W3CDTF">2026-09-02T20:49:32Z</dcterms:created>
  <dcterms:modified xsi:type="dcterms:W3CDTF">2026-09-03T07:39:21Z</dcterms:modified>
</cp:coreProperties>
</file>